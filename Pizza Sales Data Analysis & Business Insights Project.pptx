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59455-5E3A-EC27-0CF6-23F27AA3D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9CA32-E72F-4E3E-8F22-33A9888EA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578CE-1BBE-86DD-F702-6D93A85DE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6CDC-A30C-4DCA-8966-AA4A7C8FD00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65EDC-C27A-5843-B44E-76BB8FD2D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80E94-C1FE-85D8-BF6F-BE17F8846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C4EB-A5ED-4873-8CCF-B27AB9EA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10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C859D-2F14-0745-308C-6C32AE559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FF2DE-2B7C-8400-5DFC-E479022A0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321E3-B3F9-20EC-3AD5-18D11AE3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6CDC-A30C-4DCA-8966-AA4A7C8FD00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8EC4F-45E1-F367-3E6B-D24B3730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8AFD9-C9E1-8FEC-1B3C-5B4901F5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C4EB-A5ED-4873-8CCF-B27AB9EA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186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609D5-0602-9C97-7073-ACB4705A8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A023E-2262-3A8E-F08C-44B40E19B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A8D84-B2D4-CD63-79DF-50A184340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6CDC-A30C-4DCA-8966-AA4A7C8FD00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19C2F-11E9-C3B9-D63D-EB21986DA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675AD-2E4B-C5DE-6FD5-498408A69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C4EB-A5ED-4873-8CCF-B27AB9EA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256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33E95-A900-FE69-1CBD-7E5A2818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67B68-943C-E5A0-5869-069A168A9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1FC49-AC48-D9C9-98B7-13B34C0D9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BEFD6-D061-44A8-5770-23DA590E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6CDC-A30C-4DCA-8966-AA4A7C8FD00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164B0-984A-D95E-4EAE-43B4D012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97D6F-E304-69B2-3646-89700DE5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C4EB-A5ED-4873-8CCF-B27AB9EA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25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98295-0D54-7861-FF23-F58723FA4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6D388-CB3F-95A0-F1DD-37FF4AD87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2F695-9998-6ADD-DBBD-D79500218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A4648C-7744-CD8B-7222-789E16993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8B4D20-AACA-3C03-5F13-392C983EAB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2AC22-5063-338F-9CE4-1D4F6C5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6CDC-A30C-4DCA-8966-AA4A7C8FD00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A3589C-6135-D897-671C-173DF767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15009C-A80B-5A29-4C77-CF96EBEDC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C4EB-A5ED-4873-8CCF-B27AB9EA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40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567AC-3218-4D08-5DD6-F1FF07C0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CDCF14-8F3C-410D-6B8F-150C128D6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6CDC-A30C-4DCA-8966-AA4A7C8FD00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28B185-4B55-3480-102E-1ACAB3D4A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AFDDB-EC9C-8311-8BF9-7D630CA0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C4EB-A5ED-4873-8CCF-B27AB9EA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131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BADE68-5E89-5F43-033B-5B6575E76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6CDC-A30C-4DCA-8966-AA4A7C8FD00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9FC6D-0BAC-3E7D-B290-7CD9AD17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9A428-F636-F74E-0760-8C88D250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C4EB-A5ED-4873-8CCF-B27AB9EA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97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CFAB-EB25-0034-4C67-B3D0E8C5B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1286C-CFEA-2A0D-A074-A46EBBF1C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F87EA-2B00-37EE-31FD-9546F1235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74EA4-B0EB-D236-3508-E18740B1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6CDC-A30C-4DCA-8966-AA4A7C8FD00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E466A-DCFD-066A-B07F-0FBE025B3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4478E-F9CA-7072-9F0B-A5D1C850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C4EB-A5ED-4873-8CCF-B27AB9EA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66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B93F-658F-9BA9-C5D6-D1DE9B0B3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B7530F-7462-2E89-2E80-C82A1C37E9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32AFD-FC9E-B7D1-5EF2-033E20A9F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1AF40-361E-BF23-F1D3-B2B3AF91E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6CDC-A30C-4DCA-8966-AA4A7C8FD00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1E6AE-F96A-23AF-0B0B-DD60F62E8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1B630-6005-1273-258E-C26190B2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C4EB-A5ED-4873-8CCF-B27AB9EA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743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DEDAC-15F3-9FB1-147C-02C0A077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0D8D6E-EB03-83EC-69B6-17561921F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FA454-45E8-F756-C888-063066C57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6CDC-A30C-4DCA-8966-AA4A7C8FD00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96603-A165-CADE-0DE2-3C3B6F8A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3950D-5D3E-E7F6-07F3-515B25E7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C4EB-A5ED-4873-8CCF-B27AB9EA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386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73B1BF-56B5-8BE6-F66C-98C7E9C58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3729E-1B0E-26C0-E49B-8B82642DA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2D8BB-995A-F972-9D79-DC78121DB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6CDC-A30C-4DCA-8966-AA4A7C8FD00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04DD0-3B13-A6D5-8FD2-58CC4115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1E71C-0BCE-27E2-F3DF-D85732D1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C4EB-A5ED-4873-8CCF-B27AB9EA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138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3E0E99-2BE9-7E29-5FE5-DA967B9CD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B82FC-7A0B-6082-1AC2-180E2ECF5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C6557-5F21-BE27-F005-C888852A8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66CDC-A30C-4DCA-8966-AA4A7C8FD00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2C6A6-81C2-62D6-776E-D7B2356C3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1F6A4-C0D8-22CF-E04F-2FF5F296C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BC4EB-A5ED-4873-8CCF-B27AB9EA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851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568B52-56E9-44CA-41D3-C08838DF31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1" y="0"/>
            <a:ext cx="1225466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0D8B1F-7795-03C7-7B48-8087498193E1}"/>
              </a:ext>
            </a:extLst>
          </p:cNvPr>
          <p:cNvSpPr txBox="1"/>
          <p:nvPr/>
        </p:nvSpPr>
        <p:spPr>
          <a:xfrm>
            <a:off x="2307365" y="1136590"/>
            <a:ext cx="7075918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pPr algn="ctr"/>
            <a:r>
              <a:rPr lang="en-IN" sz="28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Pizza sales Data Analysis Project</a:t>
            </a:r>
          </a:p>
          <a:p>
            <a:endParaRPr lang="en-IN" sz="2000" dirty="0"/>
          </a:p>
          <a:p>
            <a:pPr algn="ctr"/>
            <a:r>
              <a:rPr lang="en-IN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Analysing Sales Performance Using SQL &amp; Excel Dashboard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Tanusri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Paul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| Excel |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1371568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07F30E-F70B-4856-956F-EA90826185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17180"/>
            <a:ext cx="12191999" cy="6840820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7EC5FD-F887-3A53-50F0-1323408985E0}"/>
              </a:ext>
            </a:extLst>
          </p:cNvPr>
          <p:cNvSpPr txBox="1"/>
          <p:nvPr/>
        </p:nvSpPr>
        <p:spPr>
          <a:xfrm>
            <a:off x="601054" y="760577"/>
            <a:ext cx="10989892" cy="480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ighlight>
                  <a:srgbClr val="FFFF00"/>
                </a:highlight>
                <a:latin typeface="Arial Rounded MT Bold" panose="020F0704030504030204" pitchFamily="34" charset="0"/>
              </a:rPr>
              <a:t>PROBLEM STATEMENT</a:t>
            </a:r>
          </a:p>
          <a:p>
            <a:pPr algn="ctr"/>
            <a:r>
              <a:rPr lang="en-US" sz="2400" dirty="0">
                <a:highlight>
                  <a:srgbClr val="FFFF00"/>
                </a:highlight>
                <a:latin typeface="Arial Rounded MT Bold" panose="020F0704030504030204" pitchFamily="34" charset="0"/>
              </a:rPr>
              <a:t>KPI’s REQUIREMENT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Analyze key indicators for pizza sales data to gain insights into business performance. Specifically, calculate the following metrics: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Total Revenue</a:t>
            </a:r>
            <a:r>
              <a:rPr lang="en-US" dirty="0"/>
              <a:t>: The sum of the total price of all pizza orders.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Average Order Value</a:t>
            </a:r>
            <a:r>
              <a:rPr lang="en-US" dirty="0"/>
              <a:t>: The average amount spent per order, calculated by dividing the total revenue by the total number of orders.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Total Pizzas Sold</a:t>
            </a:r>
            <a:r>
              <a:rPr lang="en-US" dirty="0"/>
              <a:t>: The sum of the quantities of all pizzas sold.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Total Orders</a:t>
            </a:r>
            <a:r>
              <a:rPr lang="en-US" dirty="0"/>
              <a:t>: The total number of orders placed.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Average Pizzas Per Order</a:t>
            </a:r>
            <a:r>
              <a:rPr lang="en-US" dirty="0"/>
              <a:t>: The average number of pizzas sold per order, calculated by dividing the total number of pizzas sold by the total number of orders.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834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3232DF-A6FC-03F5-EB16-1E418332FA46}"/>
              </a:ext>
            </a:extLst>
          </p:cNvPr>
          <p:cNvSpPr txBox="1"/>
          <p:nvPr/>
        </p:nvSpPr>
        <p:spPr>
          <a:xfrm>
            <a:off x="769120" y="157640"/>
            <a:ext cx="9904575" cy="6700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PROBLEM STATEMENT</a:t>
            </a:r>
          </a:p>
          <a:p>
            <a:pPr algn="ctr"/>
            <a:r>
              <a:rPr lang="en-US" b="1" dirty="0">
                <a:highlight>
                  <a:srgbClr val="FFFF00"/>
                </a:highlight>
              </a:rPr>
              <a:t>CHARTS REQUIREMENT</a:t>
            </a:r>
          </a:p>
          <a:p>
            <a:pPr algn="ctr"/>
            <a:endParaRPr lang="en-US" b="1" dirty="0">
              <a:highlight>
                <a:srgbClr val="FFFF00"/>
              </a:highlight>
            </a:endParaRPr>
          </a:p>
          <a:p>
            <a:r>
              <a:rPr lang="en-US" b="1" dirty="0"/>
              <a:t>Visualize various aspects of pizza sales data to gain insights and understand key trends. Identified the following requirements for creating charts:</a:t>
            </a:r>
          </a:p>
          <a:p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Daily Trend for Total </a:t>
            </a:r>
            <a:r>
              <a:rPr lang="en-US" b="1" dirty="0" err="1"/>
              <a:t>Orders</a:t>
            </a:r>
            <a:r>
              <a:rPr lang="en-US" dirty="0" err="1"/>
              <a:t>:Create</a:t>
            </a:r>
            <a:r>
              <a:rPr lang="en-US" dirty="0"/>
              <a:t> a bar chart that displays the daily trend of total orders over a specific time period. This chart will help us identify any patterns or fluctuations in order volumes on a daily basis.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Hourly Trend for Total </a:t>
            </a:r>
            <a:r>
              <a:rPr lang="en-US" b="1" dirty="0" err="1"/>
              <a:t>Orders</a:t>
            </a:r>
            <a:r>
              <a:rPr lang="en-US" dirty="0" err="1"/>
              <a:t>:Create</a:t>
            </a:r>
            <a:r>
              <a:rPr lang="en-US" dirty="0"/>
              <a:t> a line chart that illustrates the hourly trend of total orders throughout the day. This chart will allow us to identify peak hours or periods of high order activity.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Percentage of Sales by Pizza </a:t>
            </a:r>
            <a:r>
              <a:rPr lang="en-US" b="1" dirty="0" err="1"/>
              <a:t>Category</a:t>
            </a:r>
            <a:r>
              <a:rPr lang="en-US" dirty="0" err="1"/>
              <a:t>:Create</a:t>
            </a:r>
            <a:r>
              <a:rPr lang="en-US" dirty="0"/>
              <a:t> a pie chart that shows the distribution of sales across different pizza categories. This chart will provide insights into the popularity of various pizza categories and their contribution to overall sales.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Percentage of Sales by Pizza </a:t>
            </a:r>
            <a:r>
              <a:rPr lang="en-US" b="1" dirty="0" err="1"/>
              <a:t>Size</a:t>
            </a:r>
            <a:r>
              <a:rPr lang="en-US" dirty="0" err="1"/>
              <a:t>:Generate</a:t>
            </a:r>
            <a:r>
              <a:rPr lang="en-US" dirty="0"/>
              <a:t> a pie chart that represents the percentage of sales attributed to different pizza sizes. This chart will help us understand customer preferences for pizza sizes and their impact on sales.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A8681-D606-B4E6-BBAE-B9968478C0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-18225" y="0"/>
            <a:ext cx="12210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7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EF95F-634A-BFDC-A481-19DCBBE2753D}"/>
              </a:ext>
            </a:extLst>
          </p:cNvPr>
          <p:cNvSpPr txBox="1"/>
          <p:nvPr/>
        </p:nvSpPr>
        <p:spPr>
          <a:xfrm>
            <a:off x="615297" y="734939"/>
            <a:ext cx="11100987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en-US" b="1" dirty="0"/>
              <a:t>Total Pizzas Sold by Pizza Category</a:t>
            </a:r>
            <a:r>
              <a:rPr lang="en-US" dirty="0"/>
              <a:t>: Create a funnel chart that presents the total number of pizzas sold for each pizza category. This chart will allow us to compare the sales performance of different pizza categories.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en-US" b="1" dirty="0"/>
              <a:t>Top 5 Best Sellers by Total Pizzas Sold</a:t>
            </a:r>
            <a:r>
              <a:rPr lang="en-US" dirty="0"/>
              <a:t>: Create a bar chart highlighting the top 5 best-selling pizzas based on the total number of pizzas sold. This chart will help us identify the most popular pizza options.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en-US" b="1" dirty="0"/>
              <a:t>Bottom 5 Worst Sellers by Total Pizzas Sold</a:t>
            </a:r>
            <a:r>
              <a:rPr lang="en-US" dirty="0"/>
              <a:t>: Create a bar chart showcasing the bottom 5 worst-selling pizzas based on the total number of pizzas sold. This chart will enable us to identify underperforming or less popular pizza options.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3DDF70-4570-2AB2-4CFC-92914AC320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71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14B30D-71DF-4073-9DE7-AA754B3F4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917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6898FA-3D38-E04D-4C2C-ACE70014A5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530E99-9086-1211-3E91-7F66EE73E68F}"/>
              </a:ext>
            </a:extLst>
          </p:cNvPr>
          <p:cNvSpPr txBox="1"/>
          <p:nvPr/>
        </p:nvSpPr>
        <p:spPr>
          <a:xfrm>
            <a:off x="1059677" y="444385"/>
            <a:ext cx="10084037" cy="5669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Total revenue generated is $69,793.3 from 1,845 orders, with a total of 4,232 pizzas sold.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📅 Sales are highest on Fridays and Saturdays, indicating strong weekend demand.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⏰ Peak ordering hours are between 12–1 PM and 5–8 PM, showing lunch and dinner rush periods.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🍕 Classic pizza category contributes the highest share of total sales and orders, making it the most popular category.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Large-sized pizzas contribute the maximum sales (around 46%), indicating customer preference for larger portions.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🥇 Top-selling pizzas include Classic Deluxe pizzas, driving major revenue.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📉 Worst-selling pizzas include Brie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pizza, indicating low customer demand for certain varieties.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780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576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Arial Rounded MT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tanusripaul220@gmail.com</dc:creator>
  <cp:lastModifiedBy>tanusripaul220@gmail.com</cp:lastModifiedBy>
  <cp:revision>5</cp:revision>
  <dcterms:created xsi:type="dcterms:W3CDTF">2026-03-17T16:23:24Z</dcterms:created>
  <dcterms:modified xsi:type="dcterms:W3CDTF">2026-03-22T06:28:52Z</dcterms:modified>
</cp:coreProperties>
</file>